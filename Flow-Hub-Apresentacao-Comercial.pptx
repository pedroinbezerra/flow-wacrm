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38928" y="1417320"/>
            <a:ext cx="685800" cy="6858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5138928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</a:t>
            </a:r>
            <a:pPr algn="ctr" indent="0" marL="0">
              <a:buNone/>
            </a:pPr>
            <a:r>
              <a:rPr lang="en-US" sz="54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3364992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CRM de vendas que vive dentro do seu WhatsApp.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63928" y="4160520"/>
            <a:ext cx="4553712" cy="329184"/>
          </a:xfrm>
          <a:prstGeom prst="roundRect">
            <a:avLst>
              <a:gd name="adj" fmla="val 50000"/>
            </a:avLst>
          </a:prstGeom>
          <a:solidFill>
            <a:srgbClr val="141420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63928" y="416052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Oficial da Meta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91960" y="416052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141420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1960" y="4160520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em Real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25432" y="4160520"/>
            <a:ext cx="2505456" cy="329184"/>
          </a:xfrm>
          <a:prstGeom prst="roundRect">
            <a:avLst>
              <a:gd name="adj" fmla="val 50000"/>
            </a:avLst>
          </a:prstGeom>
          <a:solidFill>
            <a:srgbClr val="141420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25432" y="416052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fidelidade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institucional e comercial  ·  Flow Systems Ltda.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abas abertas para fazer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venda.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vendedor responde no WhatsApp, anota na planilha, atualiza o CRM e agenda uma tarefa em outra ferramenta. Cada ferramenta resolve apenas uma parte do problema — e nenhuma delas conversa com a outra.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55280" y="137160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Web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0" y="1938528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938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de clientes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2505456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25054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avulso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3072384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30723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automação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3639312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639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campanhas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4343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delas fala com a outra.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6949440" cy="0"/>
          </a:xfrm>
          <a:prstGeom prst="line">
            <a:avLst/>
          </a:prstGeom>
          <a:noFill/>
          <a:ln w="12700">
            <a:solidFill>
              <a:srgbClr val="2C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verdadeiro concorrente não é outra plataforma — 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caos operacional.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 A DIA SEM PROCESSO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sintomas que toda operação de</a:t>
            </a:r>
            <a:endParaRPr lang="en-US" sz="2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sem processo compartilha.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2904" cy="1600200"/>
          </a:xfrm>
          <a:prstGeom prst="roundRect">
            <a:avLst>
              <a:gd name="adj" fmla="val 4571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13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79192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perdidas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importantes somem no meio de centenas de outras.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3024" y="2148840"/>
            <a:ext cx="3422904" cy="1600200"/>
          </a:xfrm>
          <a:prstGeom prst="roundRect">
            <a:avLst>
              <a:gd name="adj" fmla="val 4571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1624" y="2313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1624" y="2679192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esquecidos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1624" y="315468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quem ficou sem resposta ou sem retorno.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25968" y="2148840"/>
            <a:ext cx="3422904" cy="1600200"/>
          </a:xfrm>
          <a:prstGeom prst="roundRect">
            <a:avLst>
              <a:gd name="adj" fmla="val 4571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4568" y="2313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54568" y="2679192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sem acompanhamento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315468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visibilidade sobre o que está em negociação.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422904" cy="1600200"/>
          </a:xfrm>
          <a:prstGeom prst="roundRect">
            <a:avLst>
              <a:gd name="adj" fmla="val 4571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87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553712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espalhadas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WhatsApp, parte na planilha, parte na cabeça de alguém.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3024" y="4023360"/>
            <a:ext cx="3422904" cy="1600200"/>
          </a:xfrm>
          <a:prstGeom prst="roundRect">
            <a:avLst>
              <a:gd name="adj" fmla="val 4571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1624" y="4187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1624" y="4553712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manuais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repetidas todos os dias, uma por uma.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5968" y="4023360"/>
            <a:ext cx="3422904" cy="1600200"/>
          </a:xfrm>
          <a:prstGeom prst="roundRect">
            <a:avLst>
              <a:gd name="adj" fmla="val 4571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4568" y="4187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54568" y="4553712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sem processo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54568" y="502920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trabalha de uma maneira diferente.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plataforma no lugar de cinco.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para conversar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44368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44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para controlar clientes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11296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112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para acompanhar vendas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78224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782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externa de automação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45152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6451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separado de campanhas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3246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720840" y="1828800"/>
            <a:ext cx="4828032" cy="3749040"/>
          </a:xfrm>
          <a:prstGeom prst="roundRect">
            <a:avLst>
              <a:gd name="adj" fmla="val 2439"/>
            </a:avLst>
          </a:prstGeom>
          <a:solidFill>
            <a:srgbClr val="1D1D27"/>
          </a:solidFill>
          <a:ln w="15875">
            <a:solidFill>
              <a:srgbClr val="933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05740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95160" y="2331720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95160" y="288036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26182F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288036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de entrada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36608" y="2880360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26182F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288036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95160" y="3282696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26182F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3282696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47888" y="3282696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26182F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47888" y="328269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95160" y="3685032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26182F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368503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23376" y="3685032"/>
            <a:ext cx="1837944" cy="329184"/>
          </a:xfrm>
          <a:prstGeom prst="roundRect">
            <a:avLst>
              <a:gd name="adj" fmla="val 50000"/>
            </a:avLst>
          </a:prstGeom>
          <a:solidFill>
            <a:srgbClr val="26182F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23376" y="368503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Transmissões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95160" y="4087368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26182F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4087368"/>
            <a:ext cx="2551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com IA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74352" y="4087368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26182F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74352" y="4087368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95160" y="4489704"/>
            <a:ext cx="2670048" cy="329184"/>
          </a:xfrm>
          <a:prstGeom prst="roundRect">
            <a:avLst>
              <a:gd name="adj" fmla="val 50000"/>
            </a:avLst>
          </a:prstGeom>
          <a:solidFill>
            <a:srgbClr val="26182F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448970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da Meta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95160" y="5074920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login  ·  uma operação  ·  um histórico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POR TRÁS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de tecnologia que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transformou experiência real em produto.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 Systems constrói tecnologia para negócios brasileiros — de sistemas de gestão sob medida a produtos prontos para uso. O Flow Hub nasceu dessa experiência: um CRM pensado especificamente para quem vende e atende pelo WhatsApp.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6858000" cy="512064"/>
          </a:xfrm>
          <a:prstGeom prst="roundRect">
            <a:avLst>
              <a:gd name="adj" fmla="val 10714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8404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Systems Ltda.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62.479.299/0001-66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462272"/>
            <a:ext cx="6858000" cy="512064"/>
          </a:xfrm>
          <a:prstGeom prst="roundRect">
            <a:avLst>
              <a:gd name="adj" fmla="val 10714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4622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446227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· 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084064"/>
            <a:ext cx="6858000" cy="512064"/>
          </a:xfrm>
          <a:prstGeom prst="roundRect">
            <a:avLst>
              <a:gd name="adj" fmla="val 10714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08406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91840" y="508406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 — CRM e atendimento via WhatsApp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2240280"/>
            <a:ext cx="3593592" cy="3566160"/>
          </a:xfrm>
          <a:prstGeom prst="roundRect">
            <a:avLst>
              <a:gd name="adj" fmla="val 2564"/>
            </a:avLst>
          </a:prstGeom>
          <a:solidFill>
            <a:srgbClr val="1D1D27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MATURIDADE, NÃO SÓ PROMESSA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3008376"/>
            <a:ext cx="82296" cy="82296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28712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Encarregado de Proteção de Dados (DPO) nomeado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3666744"/>
            <a:ext cx="82296" cy="82296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352958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Operações de Tratamento (RAT) — Art. 37 LGPD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4325112"/>
            <a:ext cx="82296" cy="82296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21" name="Text 19"/>
          <p:cNvSpPr/>
          <p:nvPr/>
        </p:nvSpPr>
        <p:spPr>
          <a:xfrm>
            <a:off x="8430768" y="41879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formal de resposta a incidentes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4983480"/>
            <a:ext cx="82296" cy="82296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23" name="Text 21"/>
          <p:cNvSpPr/>
          <p:nvPr/>
        </p:nvSpPr>
        <p:spPr>
          <a:xfrm>
            <a:off x="8430768" y="4846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de dados entre contas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como funciona por dentro: Pipelines.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tela por pergunta. Sem explicação longa.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08792" cy="4343400"/>
          </a:xfrm>
          <a:prstGeom prst="roundRect">
            <a:avLst>
              <a:gd name="adj" fmla="val 1684"/>
            </a:avLst>
          </a:prstGeom>
          <a:solidFill>
            <a:srgbClr val="0E0E13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10908792" cy="365760"/>
          </a:xfrm>
          <a:prstGeom prst="roundRect">
            <a:avLst>
              <a:gd name="adj" fmla="val 20000"/>
            </a:avLst>
          </a:prstGeom>
          <a:solidFill>
            <a:srgbClr val="141419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103120"/>
            <a:ext cx="91440" cy="91440"/>
          </a:xfrm>
          <a:prstGeom prst="ellipse">
            <a:avLst/>
          </a:prstGeom>
          <a:solidFill>
            <a:srgbClr val="DB27AC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2103120"/>
            <a:ext cx="91440" cy="9144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2103120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app.flowhub.com.br / pipelines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1934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NEGÓCIOS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1934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86430" y="2468880"/>
            <a:ext cx="1934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 PIPELINE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86430" y="2715768"/>
            <a:ext cx="1934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R$ 8.700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58461" y="2468880"/>
            <a:ext cx="1934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MÉDIO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58461" y="2715768"/>
            <a:ext cx="1934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R$ 2.175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0491" y="2468880"/>
            <a:ext cx="1934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ESTE MÊS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130491" y="2715768"/>
            <a:ext cx="1934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02522" y="2468880"/>
            <a:ext cx="1934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 ESTE MÊS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202522" y="2715768"/>
            <a:ext cx="1934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3246120"/>
            <a:ext cx="1925726" cy="2743200"/>
          </a:xfrm>
          <a:prstGeom prst="roundRect">
            <a:avLst>
              <a:gd name="adj" fmla="val 2849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246120"/>
            <a:ext cx="41148" cy="2743200"/>
          </a:xfrm>
          <a:prstGeom prst="rect">
            <a:avLst/>
          </a:prstGeom>
          <a:solidFill>
            <a:srgbClr val="76767F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3355848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51560" y="3749040"/>
            <a:ext cx="1651406" cy="777240"/>
          </a:xfrm>
          <a:prstGeom prst="roundRect">
            <a:avLst>
              <a:gd name="adj" fmla="val 5882"/>
            </a:avLst>
          </a:prstGeom>
          <a:solidFill>
            <a:srgbClr val="17171F"/>
          </a:solidFill>
          <a:ln w="9525">
            <a:solidFill>
              <a:srgbClr val="2C2C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3822192"/>
            <a:ext cx="1422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70432" y="4087368"/>
            <a:ext cx="142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" y="4279392"/>
            <a:ext cx="142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23006" y="3246120"/>
            <a:ext cx="1925726" cy="2743200"/>
          </a:xfrm>
          <a:prstGeom prst="roundRect">
            <a:avLst>
              <a:gd name="adj" fmla="val 2849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23006" y="3246120"/>
            <a:ext cx="41148" cy="2743200"/>
          </a:xfrm>
          <a:prstGeom prst="rect">
            <a:avLst/>
          </a:prstGeom>
          <a:solidFill>
            <a:srgbClr val="F5B942"/>
          </a:solidFill>
          <a:ln/>
        </p:spPr>
      </p:sp>
      <p:sp>
        <p:nvSpPr>
          <p:cNvPr id="30" name="Text 28"/>
          <p:cNvSpPr/>
          <p:nvPr/>
        </p:nvSpPr>
        <p:spPr>
          <a:xfrm>
            <a:off x="3187598" y="3355848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160166" y="3749040"/>
            <a:ext cx="1651406" cy="777240"/>
          </a:xfrm>
          <a:prstGeom prst="roundRect">
            <a:avLst>
              <a:gd name="adj" fmla="val 5882"/>
            </a:avLst>
          </a:prstGeom>
          <a:solidFill>
            <a:srgbClr val="17171F"/>
          </a:solidFill>
          <a:ln w="9525">
            <a:solidFill>
              <a:srgbClr val="2C2C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038" y="3822192"/>
            <a:ext cx="1422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Projeto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79038" y="4087368"/>
            <a:ext cx="142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Silva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79038" y="4279392"/>
            <a:ext cx="142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R$ 2.500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31613" y="3246120"/>
            <a:ext cx="1925726" cy="2743200"/>
          </a:xfrm>
          <a:prstGeom prst="roundRect">
            <a:avLst>
              <a:gd name="adj" fmla="val 2849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31613" y="3246120"/>
            <a:ext cx="41148" cy="27432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7" name="Text 35"/>
          <p:cNvSpPr/>
          <p:nvPr/>
        </p:nvSpPr>
        <p:spPr>
          <a:xfrm>
            <a:off x="5296205" y="3355848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268773" y="3749040"/>
            <a:ext cx="1651406" cy="777240"/>
          </a:xfrm>
          <a:prstGeom prst="roundRect">
            <a:avLst>
              <a:gd name="adj" fmla="val 5882"/>
            </a:avLst>
          </a:prstGeom>
          <a:solidFill>
            <a:srgbClr val="17171F"/>
          </a:solidFill>
          <a:ln w="9525">
            <a:solidFill>
              <a:srgbClr val="2C2C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87645" y="3822192"/>
            <a:ext cx="1422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Enviada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87645" y="4087368"/>
            <a:ext cx="142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Lima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87645" y="4279392"/>
            <a:ext cx="142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R$ 5.000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40219" y="3246120"/>
            <a:ext cx="1925726" cy="2743200"/>
          </a:xfrm>
          <a:prstGeom prst="roundRect">
            <a:avLst>
              <a:gd name="adj" fmla="val 2849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40219" y="3246120"/>
            <a:ext cx="41148" cy="2743200"/>
          </a:xfrm>
          <a:prstGeom prst="rect">
            <a:avLst/>
          </a:prstGeom>
          <a:solidFill>
            <a:srgbClr val="B565F5"/>
          </a:solidFill>
          <a:ln/>
        </p:spPr>
      </p:sp>
      <p:sp>
        <p:nvSpPr>
          <p:cNvPr id="44" name="Text 42"/>
          <p:cNvSpPr/>
          <p:nvPr/>
        </p:nvSpPr>
        <p:spPr>
          <a:xfrm>
            <a:off x="7404811" y="3355848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Franqueados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377379" y="3749040"/>
            <a:ext cx="1651406" cy="777240"/>
          </a:xfrm>
          <a:prstGeom prst="roundRect">
            <a:avLst>
              <a:gd name="adj" fmla="val 5882"/>
            </a:avLst>
          </a:prstGeom>
          <a:solidFill>
            <a:srgbClr val="17171F"/>
          </a:solidFill>
          <a:ln w="9525">
            <a:solidFill>
              <a:srgbClr val="2C2C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6251" y="3822192"/>
            <a:ext cx="1422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Agendada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496251" y="4087368"/>
            <a:ext cx="142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Costa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96251" y="4279392"/>
            <a:ext cx="142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R$ 1.200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348826" y="3246120"/>
            <a:ext cx="1925726" cy="2743200"/>
          </a:xfrm>
          <a:prstGeom prst="roundRect">
            <a:avLst>
              <a:gd name="adj" fmla="val 2849"/>
            </a:avLst>
          </a:prstGeom>
          <a:solidFill>
            <a:srgbClr val="141419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48826" y="3246120"/>
            <a:ext cx="41148" cy="2743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1" name="Text 49"/>
          <p:cNvSpPr/>
          <p:nvPr/>
        </p:nvSpPr>
        <p:spPr>
          <a:xfrm>
            <a:off x="9513418" y="3355848"/>
            <a:ext cx="165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485986" y="3794760"/>
            <a:ext cx="16514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Solte um negócio aqui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598932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reais do Flow Hub · dados de conta de demonstração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o seu comercial precisa,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único lugar.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94376" cy="1874520"/>
          </a:xfrm>
          <a:prstGeom prst="roundRect">
            <a:avLst>
              <a:gd name="adj" fmla="val 3902"/>
            </a:avLst>
          </a:prstGeom>
          <a:solidFill>
            <a:srgbClr val="20142B"/>
          </a:solidFill>
          <a:ln w="15875">
            <a:solidFill>
              <a:srgbClr val="933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17136" y="2404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745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 caixa de entrada por equipe — comercial, suporte e financeiro, cada um na sua visão. Recurso que nenhum concorrente mapeado replica hoje.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4496" y="2148840"/>
            <a:ext cx="5294376" cy="1874520"/>
          </a:xfrm>
          <a:prstGeom prst="roundRect">
            <a:avLst>
              <a:gd name="adj" fmla="val 3902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28816" y="237744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28816" y="2834640"/>
            <a:ext cx="4745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visual de fluxos de atendimento: menus de boas-vindas, triagem e qualificação 24 horas por dia.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5294376" cy="1874520"/>
          </a:xfrm>
          <a:prstGeom prst="roundRect">
            <a:avLst>
              <a:gd name="adj" fmla="val 3902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57200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Transmissões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4745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em massa segmentadas por tags, com agendamento e relatório de entrega.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4496" y="4343400"/>
            <a:ext cx="5294376" cy="1874520"/>
          </a:xfrm>
          <a:prstGeom prst="roundRect">
            <a:avLst>
              <a:gd name="adj" fmla="val 3902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457200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com IA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28816" y="5029200"/>
            <a:ext cx="4745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assistente que aprende o negócio pela sua própria descrição — sem árvore de decisão para montar.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INTELIGENTE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monta um fluxo.</a:t>
            </a:r>
            <a:endParaRPr lang="en-US" sz="3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explica o seu negócio.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árvore de decisão, sem condicional, sem caminho para cada situação. Você explica o negócio como explicaria para um funcionário novo — e o assistente atende a partir disso.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310896" cy="310896"/>
          </a:xfrm>
          <a:prstGeom prst="ellipse">
            <a:avLst/>
          </a:prstGeom>
          <a:solidFill>
            <a:srgbClr val="20142B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4930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atendimento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995928"/>
            <a:ext cx="310896" cy="310896"/>
          </a:xfrm>
          <a:prstGeom prst="ellipse">
            <a:avLst/>
          </a:prstGeom>
          <a:solidFill>
            <a:srgbClr val="20142B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9684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o conhecimento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71416"/>
            <a:ext cx="310896" cy="310896"/>
          </a:xfrm>
          <a:prstGeom prst="ellipse">
            <a:avLst/>
          </a:prstGeom>
          <a:solidFill>
            <a:srgbClr val="20142B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4439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 as mídias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46904"/>
            <a:ext cx="310896" cy="310896"/>
          </a:xfrm>
          <a:prstGeom prst="ellipse">
            <a:avLst/>
          </a:prstGeom>
          <a:solidFill>
            <a:srgbClr val="20142B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9194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híbrido com escalonamento humano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2148840"/>
            <a:ext cx="4233672" cy="4160520"/>
          </a:xfrm>
          <a:prstGeom prst="roundRect">
            <a:avLst>
              <a:gd name="adj" fmla="val 2198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404872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UMA IA PARA FALAR COM O CLIENTE EXIGE CUIDADO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306324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responde por cima de um atendente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3337560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alguém assumiu a conversa, o envio é cancelado antes de sair.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89520" y="3867912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manipulação antes da 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4142232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do tipo “ignore suas regras” são interceptados e a conversa vai para um humano.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89520" y="4672584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respostas por hora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4946904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15 respostas por hora na mesma conversa — o custo não sai do controle.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89520" y="5477256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usa a sua própria chave de 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5751576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 OpenAI, Groq, DeepSeek e outros provedores compatíveis, sempre criptografada.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CONFIAR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letras miúdas.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5180076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em Real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5180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na sua moeda, sem variação de dólar.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68796" y="3063240"/>
            <a:ext cx="5180076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8796" y="210312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fidelidade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68796" y="2487168"/>
            <a:ext cx="5180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contrato longo. Você fica porque quer.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5180076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3756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da Meta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0080" y="3721608"/>
            <a:ext cx="5180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WhatsApp funciona pelo caminho oficial.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68796" y="4297680"/>
            <a:ext cx="5180076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796" y="333756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vendedor obrigatório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8796" y="3721608"/>
            <a:ext cx="5180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cria a conta e começa sozinho.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5180076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7200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imediata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0080" y="4956048"/>
            <a:ext cx="5180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criação da conta ao primeiro uso, em minutos.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68796" y="5532120"/>
            <a:ext cx="5180076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8796" y="4572000"/>
            <a:ext cx="5180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integrado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368796" y="4956048"/>
            <a:ext cx="5180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Conversas, contatos, vendas e automações no mesmo lugar.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com processo formal,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só com promessa.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9728" cy="10972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1284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a LGPD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Encarregado de Proteção de Dados (DPO) nomeado e canal direto de contato.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23076" y="2331720"/>
            <a:ext cx="109728" cy="10972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8" name="Text 6"/>
          <p:cNvSpPr/>
          <p:nvPr/>
        </p:nvSpPr>
        <p:spPr>
          <a:xfrm>
            <a:off x="6551676" y="221284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entre contas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51676" y="2542032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operação é restrita aos dados da própria conta, com verificação em múltiplas camadas.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9728" cy="10972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930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papel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822192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Proprietário, administrador, agente e visualizador — cada um com permissões específicas.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23076" y="3611880"/>
            <a:ext cx="109728" cy="10972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551676" y="34930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sempre criptografadas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51676" y="3822192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sensíveis (WhatsApp, IA) protegidas em repouso; toda conexão é criptografada.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728" cy="10972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7316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resposta a incidentes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5102352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formal alinhado ao Art. 48 da LGPD, com notificação à ANPD quando aplicável.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23076" y="4892040"/>
            <a:ext cx="109728" cy="10972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20" name="Text 18"/>
          <p:cNvSpPr/>
          <p:nvPr/>
        </p:nvSpPr>
        <p:spPr>
          <a:xfrm>
            <a:off x="6551676" y="477316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automatizado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51676" y="5102352"/>
            <a:ext cx="4997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automatizada do banco de dados, com verificação periódica de disponibilidade.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para o Brasil.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80360"/>
                <a:gridCol w="2651760"/>
                <a:gridCol w="2633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7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7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7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CRMs gringos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676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 plataformas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1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Cobrança em Real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6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fixo em R$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dólar ou euro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real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Fidelidade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6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meses adiantados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no WhatsApp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6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Nativo, dentro da conversa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extensão paga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Parcialmente adaptado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Boards por equipe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6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Incluído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possui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possui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56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 em minutos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3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consultoria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A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de configuração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B0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concorrentes mapeados entrega, ao mesmo tempo, contrato flexível, preço em Real e gestão de vendas completa dentro do WhatsApp.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Real, sem fidelidade.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teste gratuito. Escolha o plano depois.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21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1363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/usuário/mês · sem mínimo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6667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5387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conexão API Oficial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914400" y="40096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8816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funil Kanban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14400" y="43525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2245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 básicas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14400" y="46954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5674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1.000 contatos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50383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4910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Transmissões até 200 envios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34256" y="19659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1E1430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21671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6254496" y="2167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escolhido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08576" y="2221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Pro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08576" y="26243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R$ 99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608576" y="31363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/usuário/mês · mínimo 3 usuários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08576" y="3666744"/>
            <a:ext cx="64008" cy="6400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35387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conexões API Oficial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608576" y="4009644"/>
            <a:ext cx="64008" cy="6400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38816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 funis Kanban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608576" y="4352544"/>
            <a:ext cx="64008" cy="6400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42245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 com Canvas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608576" y="4695444"/>
            <a:ext cx="64008" cy="6400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45674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10.000 contatos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608576" y="5038344"/>
            <a:ext cx="64008" cy="6400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4910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agendadas (até 1.000)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4608576" y="5381244"/>
            <a:ext cx="64008" cy="64008"/>
          </a:xfrm>
          <a:prstGeom prst="ellipse">
            <a:avLst/>
          </a:prstGeom>
          <a:solidFill>
            <a:srgbClr val="B565F5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52532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 Boards de equipe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028432" y="19659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17171F"/>
          </a:solidFill>
          <a:ln w="12700">
            <a:solidFill>
              <a:srgbClr val="2C2C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2221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Scale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02752" y="26243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consulta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302752" y="31363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10 usuários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302752" y="36667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42" name="Text 40"/>
          <p:cNvSpPr/>
          <p:nvPr/>
        </p:nvSpPr>
        <p:spPr>
          <a:xfrm>
            <a:off x="8467344" y="35387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conexões API Oficial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8302752" y="40096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44" name="Text 42"/>
          <p:cNvSpPr/>
          <p:nvPr/>
        </p:nvSpPr>
        <p:spPr>
          <a:xfrm>
            <a:off x="8467344" y="38816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Funis ilimitados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8302752" y="43525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46" name="Text 44"/>
          <p:cNvSpPr/>
          <p:nvPr/>
        </p:nvSpPr>
        <p:spPr>
          <a:xfrm>
            <a:off x="8467344" y="42245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 avançadas com webhooks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8302752" y="46954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48" name="Text 46"/>
          <p:cNvSpPr/>
          <p:nvPr/>
        </p:nvSpPr>
        <p:spPr>
          <a:xfrm>
            <a:off x="8467344" y="45674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ilimitados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8302752" y="50383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50" name="Text 48"/>
          <p:cNvSpPr/>
          <p:nvPr/>
        </p:nvSpPr>
        <p:spPr>
          <a:xfrm>
            <a:off x="8467344" y="4910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ilimitados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302752" y="5381244"/>
            <a:ext cx="64008" cy="64008"/>
          </a:xfrm>
          <a:prstGeom prst="ellipse">
            <a:avLst/>
          </a:prstGeom>
          <a:solidFill>
            <a:srgbClr val="76767F"/>
          </a:solidFill>
          <a:ln/>
        </p:spPr>
      </p:sp>
      <p:sp>
        <p:nvSpPr>
          <p:cNvPr id="52" name="Text 50"/>
          <p:cNvSpPr/>
          <p:nvPr/>
        </p:nvSpPr>
        <p:spPr>
          <a:xfrm>
            <a:off x="8467344" y="52532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guiado com a equipe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planos incluem: caixa de entrada, contatos com tags, Boards, Pipelines, Automações, Transmissões, Atendimento com IA (com a sua chave), membros de equipe com funções, WhatsApp API Oficial. Valores em Real · sem taxa de setup.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precisa te apresentar a plataforma.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20142B"/>
          </a:solidFill>
          <a:ln w="15875">
            <a:solidFill>
              <a:srgbClr val="933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0" cy="329184"/>
          </a:xfrm>
          <a:prstGeom prst="line">
            <a:avLst/>
          </a:prstGeom>
          <a:noFill/>
          <a:ln w="12700">
            <a:solidFill>
              <a:srgbClr val="2C2C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267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o WhatsApp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0" y="2286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número comercial que sua empresa já tem, direto na API Oficial da Meta.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72384"/>
            <a:ext cx="457200" cy="457200"/>
          </a:xfrm>
          <a:prstGeom prst="ellipse">
            <a:avLst/>
          </a:prstGeom>
          <a:solidFill>
            <a:srgbClr val="20142B"/>
          </a:solidFill>
          <a:ln w="15875">
            <a:solidFill>
              <a:srgbClr val="933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529584"/>
            <a:ext cx="0" cy="329184"/>
          </a:xfrm>
          <a:prstGeom prst="line">
            <a:avLst/>
          </a:prstGeom>
          <a:noFill/>
          <a:ln w="12700">
            <a:solidFill>
              <a:srgbClr val="2C2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054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o essencial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307238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checklist mostra exatamente o que ainda falta configurar.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20142B"/>
          </a:solidFill>
          <a:ln w="15875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315968"/>
            <a:ext cx="0" cy="329184"/>
          </a:xfrm>
          <a:prstGeom prst="line">
            <a:avLst/>
          </a:prstGeom>
          <a:noFill/>
          <a:ln w="12700">
            <a:solidFill>
              <a:srgbClr val="2C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primeiro fluxo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38587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menu de boas-vindas ou descreva o atendimento para a IA.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20142B"/>
          </a:solidFill>
          <a:ln w="15875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8680" y="5102352"/>
            <a:ext cx="0" cy="329184"/>
          </a:xfrm>
          <a:prstGeom prst="line">
            <a:avLst/>
          </a:prstGeom>
          <a:noFill/>
          <a:ln w="12700">
            <a:solidFill>
              <a:srgbClr val="2C2C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626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a primeira campanha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46451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 sua base por tags e dispare com agendamento.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20142B"/>
          </a:solidFill>
          <a:ln w="15875">
            <a:solidFill>
              <a:srgbClr val="933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25880" y="5413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Convidar a equipe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0" y="54315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papéis e organize os Boards por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ANTES DE FECHAR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que o cliente já está</a:t>
            </a:r>
            <a:endParaRPr lang="en-US" sz="2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fazendo agora.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0908792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488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de cartão de crédito para testar?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59736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Você cria a conta em minutos, sem cartão, com 15 dias de acesso completo.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675888"/>
            <a:ext cx="10908792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9008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fidelidade ou contrato longo?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0098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Assinatura mensal, sem contrato mínimo e sem faturamento antecipado.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517136"/>
            <a:ext cx="10908792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31336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Meus clientes estão numa planilha, consigo trazer?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4223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Sim. A importação de contatos faz parte da implantação guiada.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358384"/>
            <a:ext cx="10908792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72584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trocar o número que já uso?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Você conecta o número comercial que já existe direto na API Oficial da Meta.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6199632"/>
            <a:ext cx="10908792" cy="0"/>
          </a:xfrm>
          <a:prstGeom prst="line">
            <a:avLst/>
          </a:prstGeom>
          <a:noFill/>
          <a:ln w="9525">
            <a:solidFill>
              <a:srgbClr val="2C2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513832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eu ultrapassar o limite do meu plano?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8247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avisa e o upgrade é feito no próprio painel, pagando só a diferença proporcional.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148840"/>
            <a:ext cx="9994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empresa já trabalha pelo WhatsApp.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falta organizar tudo.</a:t>
            </a:r>
            <a:endParaRPr lang="en-US" sz="3600" dirty="0"/>
          </a:p>
        </p:txBody>
      </p:sp>
      <p:pic>
        <p:nvPicPr>
          <p:cNvPr id="3" name="Image 0" descr="btn_gradi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8" y="3794760"/>
            <a:ext cx="32918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49928" y="3794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conta gratuitamente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6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dias gratuitos  ·  sem cartão  ·  sem fidelidade  ·  preço em Real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828800" y="5623560"/>
            <a:ext cx="8531352" cy="0"/>
          </a:xfrm>
          <a:prstGeom prst="line">
            <a:avLst/>
          </a:prstGeom>
          <a:noFill/>
          <a:ln w="12700">
            <a:solidFill>
              <a:srgbClr val="2C2C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Hub · uma solução Flow Systems Ltda.  ·  CNPJ 62.479.299/0001-66  ·  Fortaleza-CE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0" y="610819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6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flowsystems@flowofc.com.br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Flow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Hub — Apresentação Comercial</dc:title>
  <dc:subject>PptxGenJS Presentation</dc:subject>
  <dc:creator>Flow Systems</dc:creator>
  <cp:lastModifiedBy>Flow Systems</cp:lastModifiedBy>
  <cp:revision>1</cp:revision>
  <dcterms:created xsi:type="dcterms:W3CDTF">2026-07-31T23:03:14Z</dcterms:created>
  <dcterms:modified xsi:type="dcterms:W3CDTF">2026-07-31T23:03:14Z</dcterms:modified>
</cp:coreProperties>
</file>